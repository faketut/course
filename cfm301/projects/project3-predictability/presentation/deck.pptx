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Reproducing the Equity Return Predictability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CFM301 Project 3  |  Jian  |  Ch. 8 slides 24-25, extended sample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Economic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Is equity return predictability still present after 2011?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Should a long-horizon investor adjust equity exposure on dividend yield?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Audience: pension fund managers setting strategic asset allocation.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 and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Returns: CRSP VWRETD total returns, 1926-2024 (WRDS SAS Studio); EWRETD for the VW-vs-EW check.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Valuation: Shiller dividend yield, earnings yield, CAPE.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Macro: FRED term/credit spreads, inflation, IP, unemployment, oil, VIX, T-bill, GDP growth.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cay: Lettau-Ludvigson consumption-wealth ratio, reconstructed by DOLS cointegration.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Overlapping horizons, Newey-West t-stats (lag = horizon - 1).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Main result: excess returns, 5-year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Dividend yield: +0.47 (t=+3.26)  (slide: +0.49, t=1.95)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Earnings yield: +0.38 (t=+2.08)  (slide: +0.48, t=2.31)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Consumption-wealth ratio: +0.67 (t=+7.56)  (slide: +0.53, t=1.34)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Unemployment rate: +0.20 (t=+1.17)  (slide: +0.22, t=0.75)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The slides replicate in the full 1926-2024 sample.</a:t>
            </a:r>
          </a:p>
        </p:txBody>
      </p:sp>
      <p:pic>
        <p:nvPicPr>
          <p:cNvPr id="4" name="Picture 3" descr="fig_pre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2160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Comparison with the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Sign agreement overall: 52/56 = 93% -- directions and magnitudes replicate.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Caveat: valuation predictability is regime-dependent (0.74 pre-1963, 0.18 in 1963-2011, 0.76 post-2011).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Business cycle: often stronger than the slides (term spread, oil, GDP).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Risk: volatility alone fails in both samples; cay works in both, stronger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Volatility: far more predictable than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GARCH(1,1): alpha=0.136, beta=0.845, persistence=0.981.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GARCH vs realized vol: 0.95 contemporaneous, 0.61 for next-year realized vol.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Bucket bands (+/- 2 SD) overlap heavily: even real predictability is too weak to trade aggressively.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Predictability survives extension to 2024: the slides' table replicates in the full sample.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But valuation predictability is regime-dependent, not a stable parameter -- do not time on yield alone.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The signals that survive every cut: cay first, cyclical variables second.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Limitations: slide sample window inferred (quarterly sampling matches best); cay is our reconstruction; post-2011 long windows are short and episode-driven.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